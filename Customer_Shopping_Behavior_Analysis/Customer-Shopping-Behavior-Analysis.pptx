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embeddedFontLst>
    <p:embeddedFont>
      <p:font typeface="DM Sans Thin"/>
      <p:regular r:id="rId201314"/>
    </p:embeddedFont>
    <p:embeddedFont>
      <p:font typeface="DM Sans ExtraLight"/>
      <p:regular r:id="rId201315"/>
    </p:embeddedFont>
    <p:embeddedFont>
      <p:font typeface="DM Sans Light"/>
      <p:regular r:id="rId201316"/>
    </p:embeddedFont>
    <p:embeddedFont>
      <p:font typeface="DM Sans"/>
      <p:regular r:id="rId201317"/>
    </p:embeddedFont>
    <p:embeddedFont>
      <p:font typeface="DM Sans Medium"/>
      <p:regular r:id="rId201318"/>
    </p:embeddedFont>
    <p:embeddedFont>
      <p:font typeface="DM Sans SemiBold"/>
      <p:regular r:id="rId201319"/>
    </p:embeddedFont>
    <p:embeddedFont>
      <p:font typeface="DM Sans Bold"/>
      <p:regular r:id="rId201320"/>
    </p:embeddedFont>
    <p:embeddedFont>
      <p:font typeface="DM Sans ExtraBold"/>
      <p:regular r:id="rId201321"/>
    </p:embeddedFont>
    <p:embeddedFont>
      <p:font typeface="DM Sans Black"/>
      <p:regular r:id="rId201322"/>
    </p:embeddedFont>
    <p:embeddedFont>
      <p:font typeface="Libre Baskerville"/>
      <p:regular r:id="rId201323"/>
    </p:embeddedFont>
    <p:embeddedFont>
      <p:font typeface="Libre Baskerville Bold"/>
      <p:regular r:id="rId2013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jpeg"/><Relationship Id="rId4" Type="http://schemas.openxmlformats.org/officeDocument/2006/relationships/image" Target="../media/image-5-4.png"/><Relationship Id="rId5" Type="http://schemas.openxmlformats.org/officeDocument/2006/relationships/image" Target="../media/image-5-5.jpe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image" Target="../media/image-6-4.jpeg"/><Relationship Id="rId5" Type="http://schemas.openxmlformats.org/officeDocument/2006/relationships/image" Target="../media/image-6-5.jpe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90901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3007593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3,900 purchases — 18 features — insights to guide strategy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233264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Summary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888852"/>
            <a:ext cx="2290465" cy="1053182"/>
          </a:xfrm>
          <a:prstGeom prst="roundRect">
            <a:avLst>
              <a:gd name="adj" fmla="val 5654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640" y="2035373"/>
            <a:ext cx="1997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Rows &amp; Columns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2640" y="2341885"/>
            <a:ext cx="19974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Rows: 3,900 · Columns: 18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1888852"/>
            <a:ext cx="2290539" cy="1053182"/>
          </a:xfrm>
          <a:prstGeom prst="roundRect">
            <a:avLst>
              <a:gd name="adj" fmla="val 5654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74863" y="2035373"/>
            <a:ext cx="19974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Features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4863" y="2341885"/>
            <a:ext cx="19974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Demographics, Purchase details, Behavior metrics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3083793"/>
            <a:ext cx="4722763" cy="826368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2640" y="3230314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2640" y="3536826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37 values missing in Review Rating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90004"/>
            <a:ext cx="4722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EDA &amp; Preparation (Python)</a:t>
            </a:r>
            <a:endParaRPr lang="en-US" sz="25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982117"/>
            <a:ext cx="128439" cy="128439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925119" y="1170087"/>
            <a:ext cx="4722763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6" name="Text 2"/>
          <p:cNvSpPr/>
          <p:nvPr/>
        </p:nvSpPr>
        <p:spPr>
          <a:xfrm>
            <a:off x="3925119" y="1262881"/>
            <a:ext cx="472276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Load &amp; Inspect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3925119" y="1533376"/>
            <a:ext cx="472276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pandas: df.info(), describe()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1958057"/>
            <a:ext cx="128439" cy="128439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925119" y="2146027"/>
            <a:ext cx="4722763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0" name="Text 5"/>
          <p:cNvSpPr/>
          <p:nvPr/>
        </p:nvSpPr>
        <p:spPr>
          <a:xfrm>
            <a:off x="3925119" y="2238821"/>
            <a:ext cx="472276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Clean &amp; Impute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3925119" y="2509317"/>
            <a:ext cx="472276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by category median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2933998"/>
            <a:ext cx="128439" cy="128439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3925119" y="3121968"/>
            <a:ext cx="4722763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4" name="Text 8"/>
          <p:cNvSpPr/>
          <p:nvPr/>
        </p:nvSpPr>
        <p:spPr>
          <a:xfrm>
            <a:off x="3925119" y="3214762"/>
            <a:ext cx="472276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Engineer Features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3925119" y="3485257"/>
            <a:ext cx="472276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age_group, purchase_frequency_days</a:t>
            </a:r>
            <a:endParaRPr lang="en-US" sz="10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25119" y="3909938"/>
            <a:ext cx="128439" cy="128439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3925119" y="4097908"/>
            <a:ext cx="4722763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8" name="Text 11"/>
          <p:cNvSpPr/>
          <p:nvPr/>
        </p:nvSpPr>
        <p:spPr>
          <a:xfrm>
            <a:off x="3925119" y="4190702"/>
            <a:ext cx="472276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DB Integration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3925119" y="4461197"/>
            <a:ext cx="472276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Loaded cleaned DataFrame to PostgreSQL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6170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SQL Analysis — Revenue &amp; Segments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93677"/>
            <a:ext cx="3902943" cy="22116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749701" y="1576760"/>
            <a:ext cx="1880592" cy="1365275"/>
          </a:xfrm>
          <a:prstGeom prst="roundRect">
            <a:avLst>
              <a:gd name="adj" fmla="val 4361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910510" y="1737568"/>
            <a:ext cx="155897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10510" y="2322240"/>
            <a:ext cx="155897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Female: 75,191 · Male: 157,890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772052" y="1576760"/>
            <a:ext cx="1880592" cy="1365275"/>
          </a:xfrm>
          <a:prstGeom prst="roundRect">
            <a:avLst>
              <a:gd name="adj" fmla="val 4361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32861" y="1737568"/>
            <a:ext cx="15589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Subscribers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932861" y="2100783"/>
            <a:ext cx="155897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Yes: 1,053 (total rev 62,645) · No: 2,847 (total rev 170,436)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49701" y="3083793"/>
            <a:ext cx="3902943" cy="1138461"/>
          </a:xfrm>
          <a:prstGeom prst="roundRect">
            <a:avLst>
              <a:gd name="adj" fmla="val 5230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10510" y="3244602"/>
            <a:ext cx="358132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Age Groups (Revenue)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910510" y="3607817"/>
            <a:ext cx="358132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Young Adult 62,143 · Middle-aged 59,197 · Adult 55,978 · Senior 55,763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1044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Products &amp; Ratings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136949"/>
            <a:ext cx="552450" cy="552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748" y="2136949"/>
            <a:ext cx="117537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Gloves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225748" y="2443460"/>
            <a:ext cx="117537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 Rating 3.86 — Top-rated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298" y="2136949"/>
            <a:ext cx="552450" cy="552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07928" y="2136949"/>
            <a:ext cx="11754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Sandals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307928" y="2443460"/>
            <a:ext cx="11754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 Rating 3.84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53" y="2136949"/>
            <a:ext cx="552450" cy="552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90183" y="2136949"/>
            <a:ext cx="11754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Boots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5390183" y="2443460"/>
            <a:ext cx="11754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 Rating 3.82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807" y="2136949"/>
            <a:ext cx="552450" cy="5524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72437" y="2136949"/>
            <a:ext cx="11754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Hat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472437" y="2443460"/>
            <a:ext cx="11754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 Rating 3.80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3180606"/>
            <a:ext cx="552450" cy="5524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25748" y="3180606"/>
            <a:ext cx="117537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Skirt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1225748" y="3487117"/>
            <a:ext cx="117537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 Rating 3.78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96975"/>
            <a:ext cx="8151763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Discounts &amp; High-Spenders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881" y="1336997"/>
            <a:ext cx="1257598" cy="1257598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748" y="1336997"/>
            <a:ext cx="1257598" cy="1257598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615" y="1336997"/>
            <a:ext cx="1257672" cy="1257672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881" y="2677939"/>
            <a:ext cx="1257598" cy="1257598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1748" y="2677939"/>
            <a:ext cx="1257598" cy="1257598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496119" y="4104308"/>
            <a:ext cx="4406131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 discounted categories: Hat, Sneakers, Coat, Sweater, Pants</a:t>
            </a:r>
            <a:endParaRPr lang="en-US" sz="800" dirty="0"/>
          </a:p>
        </p:txBody>
      </p:sp>
      <p:sp>
        <p:nvSpPr>
          <p:cNvPr id="9" name="Text 2"/>
          <p:cNvSpPr/>
          <p:nvPr/>
        </p:nvSpPr>
        <p:spPr>
          <a:xfrm>
            <a:off x="4703713" y="1374949"/>
            <a:ext cx="1926654" cy="343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839</a:t>
            </a:r>
            <a:endParaRPr lang="en-US" sz="2700" dirty="0"/>
          </a:p>
        </p:txBody>
      </p:sp>
      <p:sp>
        <p:nvSpPr>
          <p:cNvPr id="10" name="Text 3"/>
          <p:cNvSpPr/>
          <p:nvPr/>
        </p:nvSpPr>
        <p:spPr>
          <a:xfrm>
            <a:off x="4703713" y="1827833"/>
            <a:ext cx="1926654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Users</a:t>
            </a:r>
            <a:endParaRPr lang="en-US" sz="1000" dirty="0"/>
          </a:p>
        </p:txBody>
      </p:sp>
      <p:sp>
        <p:nvSpPr>
          <p:cNvPr id="11" name="Text 4"/>
          <p:cNvSpPr/>
          <p:nvPr/>
        </p:nvSpPr>
        <p:spPr>
          <a:xfrm>
            <a:off x="4703713" y="2066925"/>
            <a:ext cx="1926654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High-spending discount users identified</a:t>
            </a:r>
            <a:endParaRPr lang="en-US" sz="800" dirty="0"/>
          </a:p>
        </p:txBody>
      </p:sp>
      <p:sp>
        <p:nvSpPr>
          <p:cNvPr id="12" name="Text 5"/>
          <p:cNvSpPr/>
          <p:nvPr/>
        </p:nvSpPr>
        <p:spPr>
          <a:xfrm>
            <a:off x="6725915" y="1374949"/>
            <a:ext cx="1926729" cy="343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64</a:t>
            </a:r>
            <a:endParaRPr lang="en-US" sz="2700" dirty="0"/>
          </a:p>
        </p:txBody>
      </p:sp>
      <p:sp>
        <p:nvSpPr>
          <p:cNvPr id="13" name="Text 6"/>
          <p:cNvSpPr/>
          <p:nvPr/>
        </p:nvSpPr>
        <p:spPr>
          <a:xfrm>
            <a:off x="6725915" y="1827833"/>
            <a:ext cx="1926729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Avg Discount</a:t>
            </a:r>
            <a:endParaRPr lang="en-US" sz="1000" dirty="0"/>
          </a:p>
        </p:txBody>
      </p:sp>
      <p:sp>
        <p:nvSpPr>
          <p:cNvPr id="14" name="Text 7"/>
          <p:cNvSpPr/>
          <p:nvPr/>
        </p:nvSpPr>
        <p:spPr>
          <a:xfrm>
            <a:off x="6725915" y="2066925"/>
            <a:ext cx="1926729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 user</a:t>
            </a:r>
            <a:endParaRPr lang="en-US" sz="800" dirty="0"/>
          </a:p>
        </p:txBody>
      </p:sp>
      <p:sp>
        <p:nvSpPr>
          <p:cNvPr id="15" name="Text 8"/>
          <p:cNvSpPr/>
          <p:nvPr/>
        </p:nvSpPr>
        <p:spPr>
          <a:xfrm>
            <a:off x="5714777" y="2560662"/>
            <a:ext cx="1926729" cy="343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90%</a:t>
            </a:r>
            <a:endParaRPr lang="en-US" sz="2700" dirty="0"/>
          </a:p>
        </p:txBody>
      </p:sp>
      <p:sp>
        <p:nvSpPr>
          <p:cNvPr id="16" name="Text 9"/>
          <p:cNvSpPr/>
          <p:nvPr/>
        </p:nvSpPr>
        <p:spPr>
          <a:xfrm>
            <a:off x="5714777" y="3013546"/>
            <a:ext cx="1926729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Discount</a:t>
            </a:r>
            <a:endParaRPr lang="en-US" sz="1000" dirty="0"/>
          </a:p>
        </p:txBody>
      </p:sp>
      <p:sp>
        <p:nvSpPr>
          <p:cNvPr id="17" name="Text 10"/>
          <p:cNvSpPr/>
          <p:nvPr/>
        </p:nvSpPr>
        <p:spPr>
          <a:xfrm>
            <a:off x="5714777" y="3252639"/>
            <a:ext cx="1926729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observed rate</a:t>
            </a:r>
            <a:endParaRPr lang="en-US" sz="800" dirty="0"/>
          </a:p>
        </p:txBody>
      </p:sp>
      <p:sp>
        <p:nvSpPr>
          <p:cNvPr id="18" name="Text 11"/>
          <p:cNvSpPr/>
          <p:nvPr/>
        </p:nvSpPr>
        <p:spPr>
          <a:xfrm>
            <a:off x="4703713" y="3483025"/>
            <a:ext cx="3948931" cy="357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High-spending discount users — 839 rows identified</a:t>
            </a:r>
            <a:endParaRPr lang="en-US" sz="8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Examples: customer_id 2 spent 64; 3 spent 73; 4 spent 90; 20 spent 90</a:t>
            </a:r>
            <a:endParaRPr lang="en-US" sz="800" dirty="0"/>
          </a:p>
        </p:txBody>
      </p:sp>
      <p:sp>
        <p:nvSpPr>
          <p:cNvPr id="19" name="Shape 12"/>
          <p:cNvSpPr/>
          <p:nvPr/>
        </p:nvSpPr>
        <p:spPr>
          <a:xfrm>
            <a:off x="4703713" y="3926607"/>
            <a:ext cx="3948931" cy="333896"/>
          </a:xfrm>
          <a:prstGeom prst="roundRect">
            <a:avLst>
              <a:gd name="adj" fmla="val 13096"/>
            </a:avLst>
          </a:prstGeom>
          <a:solidFill>
            <a:srgbClr val="F7EDD4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7818" y="4070300"/>
            <a:ext cx="130076" cy="10410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041999" y="4021336"/>
            <a:ext cx="3963739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discount policy vs. margin impact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&amp; Purchase Patterns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749701" y="1570137"/>
            <a:ext cx="70842" cy="70842"/>
          </a:xfrm>
          <a:prstGeom prst="ellipse">
            <a:avLst/>
          </a:prstGeom>
          <a:solidFill>
            <a:srgbClr val="B88E23"/>
          </a:solidFill>
          <a:ln/>
        </p:spPr>
      </p:sp>
      <p:sp>
        <p:nvSpPr>
          <p:cNvPr id="5" name="Text 2"/>
          <p:cNvSpPr/>
          <p:nvPr/>
        </p:nvSpPr>
        <p:spPr>
          <a:xfrm>
            <a:off x="4962302" y="1494830"/>
            <a:ext cx="369034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Frequency &amp; Payment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2302" y="1858045"/>
            <a:ext cx="369034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 common payment: PayPal · Frequency: Every 3 Months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749701" y="2670497"/>
            <a:ext cx="70842" cy="70842"/>
          </a:xfrm>
          <a:prstGeom prst="ellipse">
            <a:avLst/>
          </a:prstGeom>
          <a:solidFill>
            <a:srgbClr val="B88E23"/>
          </a:solidFill>
          <a:ln/>
        </p:spPr>
      </p:sp>
      <p:sp>
        <p:nvSpPr>
          <p:cNvPr id="8" name="Text 5"/>
          <p:cNvSpPr/>
          <p:nvPr/>
        </p:nvSpPr>
        <p:spPr>
          <a:xfrm>
            <a:off x="4962302" y="2595190"/>
            <a:ext cx="369034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Subscribers vs Repeat Buyers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962302" y="2958405"/>
            <a:ext cx="36903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buyers: 3,116 loyal; 83 new; 701 returning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8161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 BI Dashboard Highlights</a:t>
            </a:r>
            <a:endParaRPr lang="en-US" sz="2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226" y="1613148"/>
            <a:ext cx="4608537" cy="2480221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99708" y="1097831"/>
            <a:ext cx="315590" cy="31559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99708" y="1553914"/>
            <a:ext cx="265286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Subscriptions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999708" y="1863626"/>
            <a:ext cx="2652861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Yes 27% · No 73%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99708" y="2279452"/>
            <a:ext cx="315590" cy="31559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99708" y="2735535"/>
            <a:ext cx="265286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Category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5999708" y="3045247"/>
            <a:ext cx="2652861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Clothing 100K · Accessories 50K · Footwear 25K · Outerwear 10K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99708" y="3652019"/>
            <a:ext cx="315590" cy="31559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999708" y="4108103"/>
            <a:ext cx="265286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Sales by Age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5999708" y="4417814"/>
            <a:ext cx="2652861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Young Adult top contributor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8711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Recommendations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813620"/>
            <a:ext cx="1931566" cy="1274638"/>
          </a:xfrm>
          <a:prstGeom prst="roundRect">
            <a:avLst>
              <a:gd name="adj" fmla="val 4671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2640" y="1960141"/>
            <a:ext cx="163852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2640" y="2488109"/>
            <a:ext cx="16385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subscriber benefits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9443" y="1813620"/>
            <a:ext cx="1931640" cy="1274638"/>
          </a:xfrm>
          <a:prstGeom prst="roundRect">
            <a:avLst>
              <a:gd name="adj" fmla="val 4671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15964" y="1960141"/>
            <a:ext cx="16385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715964" y="2266652"/>
            <a:ext cx="163859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increase loyalty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42842" y="1813620"/>
            <a:ext cx="1931640" cy="1274638"/>
          </a:xfrm>
          <a:prstGeom prst="roundRect">
            <a:avLst>
              <a:gd name="adj" fmla="val 4671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89363" y="1960141"/>
            <a:ext cx="16385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Review Discounts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89363" y="2266652"/>
            <a:ext cx="163859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 sales lift with margin control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16241" y="1813620"/>
            <a:ext cx="1931640" cy="1274638"/>
          </a:xfrm>
          <a:prstGeom prst="roundRect">
            <a:avLst>
              <a:gd name="adj" fmla="val 4671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62763" y="1960141"/>
            <a:ext cx="163859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62763" y="2488109"/>
            <a:ext cx="163859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top-rated, best-selling items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6119" y="3230017"/>
            <a:ext cx="8151763" cy="826368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640" y="3376538"/>
            <a:ext cx="7858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2640" y="3683050"/>
            <a:ext cx="7858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age groups &amp; express users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2026-07-07T21:09:18Z</dcterms:created>
  <dcterms:modified xsi:type="dcterms:W3CDTF">2026-07-07T21:09:18Z</dcterms:modified>
</cp:coreProperties>
</file>